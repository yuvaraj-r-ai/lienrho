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70B0EF-2D5A-4986-BC53-A98E25380EB2}">
  <a:tblStyle styleId="{CF70B0EF-2D5A-4986-BC53-A98E25380EB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636ebe4be_2_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636ebe4be_2_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636ebe4be_2_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36ebe4be_2_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636ebe4be_2_4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636ebe4be_2_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36ebe4be_2_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636ebe4be_2_9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636ebe4be_2_9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36ebe4be_2_1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636ebe4be_2_144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636ebe4be_2_1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636ebe4be_2_20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f636ebe4be_2_20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636ebe4be_2_20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636ebe4be_2_25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f636ebe4be_2_258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636ebe4be_2_25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636ebe4be_2_31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f636ebe4be_2_31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636ebe4be_2_31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636ebe4be_0_1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f636ebe4be_0_1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f636ebe4be_0_1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5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5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5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5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5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5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5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5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5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5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5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01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08610" y="1062990"/>
            <a:ext cx="6515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6300"/>
              <a:buFont typeface="Cambria"/>
              <a:buNone/>
            </a:pPr>
            <a:r>
              <a:rPr b="1" i="0" lang="en" sz="63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</a:t>
            </a:r>
            <a:r>
              <a:rPr b="1" i="0" lang="en" sz="6300" u="none" cap="none" strike="noStrike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INS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29184" y="209169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mbria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a CSI-VITC hackathon  ·  everything traces back to an origin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172200" y="617220"/>
            <a:ext cx="2434500" cy="377100"/>
          </a:xfrm>
          <a:prstGeom prst="roundRect">
            <a:avLst>
              <a:gd fmla="val 50000" name="adj"/>
            </a:avLst>
          </a:prstGeom>
          <a:solidFill>
            <a:srgbClr val="F2E65C"/>
          </a:solidFill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172200" y="617220"/>
            <a:ext cx="2434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TRACK  ·  AGENTIC FINANCE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308610" y="2503170"/>
            <a:ext cx="85383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" name="Google Shape;86;p15"/>
          <p:cNvSpPr/>
          <p:nvPr/>
        </p:nvSpPr>
        <p:spPr>
          <a:xfrm>
            <a:off x="308610" y="264033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308610" y="2846070"/>
            <a:ext cx="500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LIENRHO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308610" y="332613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ONE-LINE PITCH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08610" y="3531870"/>
            <a:ext cx="5006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200"/>
              <a:buFont typeface="Calibri"/>
              <a:buNone/>
            </a:pPr>
            <a:r>
              <a:rPr i="1" lang="en" sz="12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Predicts which invoices will pay late. Recommends collect, finance, or escalate. A human approves before anything happens.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726430" y="2571750"/>
            <a:ext cx="3120300" cy="2023200"/>
          </a:xfrm>
          <a:prstGeom prst="roundRect">
            <a:avLst>
              <a:gd fmla="val 4068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932170" y="2674620"/>
            <a:ext cx="274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932170" y="2866644"/>
            <a:ext cx="2743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0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Lienrho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932170" y="3257550"/>
            <a:ext cx="27432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Name ] — [ Reg. No. ] — [ Email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Name ] — [ Reg. No. ] — [ Email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Name ] — [ Reg. No. ] — [ Email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Name ] — [ Reg. No. ] — [ Email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15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5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note: keep layout, colours &amp; logos as-is — fill placeholders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16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6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6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6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6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6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6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6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6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6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6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16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6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16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6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6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6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16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6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02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6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6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answer in 2–3 lines · readable outside your track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Problem </a:t>
            </a: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Definition </a:t>
            </a:r>
            <a:endParaRPr b="0" i="0" sz="3000" u="none" cap="none" strike="noStrik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42900" y="1611630"/>
            <a:ext cx="288000" cy="2880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342900" y="161163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788670" y="1563624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WHO &amp; HOW OFTEN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88670" y="1796796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Indian MSME owners and finance managers. A typical business tracks 30+ open invoices and ₹40L+ in receivables — checked by hand, every single day.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42900" y="2345436"/>
            <a:ext cx="288000" cy="2880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342900" y="23454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88670" y="2297430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TODAY'S WORKAROUND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88670" y="2530602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They cross-check Tally or Zoho against bank balance and WhatsApp threads. Then decide by gut feel who to call first.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42900" y="3079242"/>
            <a:ext cx="288000" cy="2880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342900" y="3079242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88670" y="3031236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WHY IT FALLS SHORT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88670" y="3264408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Tally and Zoho show what's outstanding, not what will actually get paid. Every invoice gets the same attention, whether it's worth ₹5,000 or ₹5 lakh.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42900" y="3813048"/>
            <a:ext cx="288000" cy="2880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42900" y="381304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88670" y="3765042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88670" y="3998214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One real portfolio: 30 invoices, ₹42.6L outstanding. ₹11.8L of that is high-risk. A ₹6.2L cash shortfall hits in 14 days — invisible until it's almost due.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17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7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17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7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7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7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17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17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17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7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17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17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7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17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17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17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7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17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03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7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7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name it plainly · connect straight back to slide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Proposed </a:t>
            </a: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Solution </a:t>
            </a:r>
            <a:endParaRPr b="0" i="0" sz="3000" u="none" cap="none" strike="noStrik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08610" y="1680210"/>
            <a:ext cx="5486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800"/>
              <a:buFont typeface="Cambria"/>
              <a:buNone/>
            </a:pPr>
            <a:r>
              <a:rPr b="1" i="0" lang="en" sz="18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LIENRHO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08610" y="2091690"/>
            <a:ext cx="8503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Plugs into TallyPrime or Zoho Books. Reads receivables and payment history. Turns them into one ranked list: collect, finance, or escalate.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308610" y="2708910"/>
            <a:ext cx="2674500" cy="1885800"/>
          </a:xfrm>
          <a:prstGeom prst="roundRect">
            <a:avLst>
              <a:gd fmla="val 436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14350" y="291465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514350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14350" y="3291840"/>
            <a:ext cx="226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 A USER DOES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51435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Connect TallyPrime once. Each morning, open the queue, review the top recommendation and its evidence. Click Approve, Edit, or Reject.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154680" y="2708910"/>
            <a:ext cx="2674500" cy="1885800"/>
          </a:xfrm>
          <a:prstGeom prst="roundRect">
            <a:avLst>
              <a:gd fmla="val 436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3360420" y="291465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3360420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360420" y="3291840"/>
            <a:ext cx="226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WHY IT BEATS THE WORKAROUND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36042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One ranked list, sorted by financial impact. No more cross-checking the ledger, bank balance, and WhatsApp by hand.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000750" y="2708910"/>
            <a:ext cx="2674500" cy="1885800"/>
          </a:xfrm>
          <a:prstGeom prst="roundRect">
            <a:avLst>
              <a:gd fmla="val 436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6206490" y="291465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6206490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206490" y="3291840"/>
            <a:ext cx="226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WHAT'S GENUINELY DIFFERENT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20649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Not a chatbot. ML and rules assess risk. An agent picks the strategy. Only code — never the LLM — computes statutory numbers.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Google Shape;198;p18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18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18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8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18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18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18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18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18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18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18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18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18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18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18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18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18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18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18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8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04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8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8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walk the full flow · name real services &amp; models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System </a:t>
            </a: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Architecture </a:t>
            </a:r>
            <a:endParaRPr b="1" sz="3000">
              <a:solidFill>
                <a:srgbClr val="1C1B18"/>
              </a:solidFill>
              <a:highlight>
                <a:srgbClr val="F2E65C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49034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49034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TallyPrime / Zoho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8"/>
          <p:cNvCxnSpPr/>
          <p:nvPr/>
        </p:nvCxnSpPr>
        <p:spPr>
          <a:xfrm>
            <a:off x="1930527" y="1937385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18"/>
          <p:cNvSpPr/>
          <p:nvPr/>
        </p:nvSpPr>
        <p:spPr>
          <a:xfrm>
            <a:off x="217055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217055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Next.js Dashboard
(Action Queue)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8"/>
          <p:cNvCxnSpPr/>
          <p:nvPr/>
        </p:nvCxnSpPr>
        <p:spPr>
          <a:xfrm>
            <a:off x="3610737" y="1937385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p18"/>
          <p:cNvSpPr/>
          <p:nvPr/>
        </p:nvSpPr>
        <p:spPr>
          <a:xfrm>
            <a:off x="385076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385076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FastAPI
(Rules + Decision Engine)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8"/>
          <p:cNvCxnSpPr/>
          <p:nvPr/>
        </p:nvCxnSpPr>
        <p:spPr>
          <a:xfrm>
            <a:off x="5290947" y="1937385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18"/>
          <p:cNvSpPr/>
          <p:nvPr/>
        </p:nvSpPr>
        <p:spPr>
          <a:xfrm>
            <a:off x="553097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553097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XGBoost +
LangGraph Agents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8"/>
          <p:cNvCxnSpPr/>
          <p:nvPr/>
        </p:nvCxnSpPr>
        <p:spPr>
          <a:xfrm>
            <a:off x="6971157" y="1937385"/>
            <a:ext cx="240000" cy="0"/>
          </a:xfrm>
          <a:prstGeom prst="straightConnector1">
            <a:avLst/>
          </a:prstGeom>
          <a:noFill/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" name="Google Shape;237;p18"/>
          <p:cNvSpPr/>
          <p:nvPr/>
        </p:nvSpPr>
        <p:spPr>
          <a:xfrm>
            <a:off x="7211187" y="1645920"/>
            <a:ext cx="1440300" cy="582900"/>
          </a:xfrm>
          <a:prstGeom prst="roundRect">
            <a:avLst>
              <a:gd fmla="val 11765" name="adj"/>
            </a:avLst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721118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Approved Action
(Reminder / TReDS / Dossier)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90347" y="2311146"/>
            <a:ext cx="8160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↑ replace with your real architecture diagram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308610" y="2983230"/>
            <a:ext cx="2674500" cy="1645800"/>
          </a:xfrm>
          <a:prstGeom prst="roundRect">
            <a:avLst>
              <a:gd fmla="val 5000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514350" y="318897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514350" y="31889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14350" y="356616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KEY TECHNICAL DECISION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514350" y="3943350"/>
            <a:ext cx="2263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The LLM never touches statutory or financial math. MSMED and TReDS rules run as code. Agents just call them.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3154680" y="2983230"/>
            <a:ext cx="2674500" cy="1645800"/>
          </a:xfrm>
          <a:prstGeom prst="roundRect">
            <a:avLst>
              <a:gd fmla="val 5000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3360420" y="318897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3360420" y="31889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3360420" y="356616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HARDEST PART TO BUILD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3360420" y="3943350"/>
            <a:ext cx="2263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Making the agent choose the same strategy every time. Fixed with a strict output schema — no free-text reasoning.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6000750" y="2983230"/>
            <a:ext cx="2674500" cy="1645800"/>
          </a:xfrm>
          <a:prstGeom prst="roundRect">
            <a:avLst>
              <a:gd fmla="val 5000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6206490" y="3188970"/>
            <a:ext cx="274200" cy="2742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6206490" y="31889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6206490" y="356616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HOW YOU KNOW IT 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6206490" y="3943350"/>
            <a:ext cx="2263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XGBoost must clear ROC-AUC ≥0.75 before it's trusted. Every agent output is validated and logged.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19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19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19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19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19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19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19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9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19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19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19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19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19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19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19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19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19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19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19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9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05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9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9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a working slice with a known limit beats an over-promised demo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Feasibility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&amp;</a:t>
            </a:r>
            <a:r>
              <a:rPr b="1" lang="en" sz="1100">
                <a:solidFill>
                  <a:schemeClr val="dk1"/>
                </a:solidFill>
              </a:rPr>
              <a:t> </a:t>
            </a: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Scope</a:t>
            </a:r>
            <a:r>
              <a:rPr lang="en" sz="1100">
                <a:solidFill>
                  <a:schemeClr val="dk1"/>
                </a:solidFill>
                <a:highlight>
                  <a:srgbClr val="F2E65C"/>
                </a:highlight>
              </a:rPr>
              <a:t> </a:t>
            </a:r>
            <a:endParaRPr b="0" i="0" sz="2400" u="none" cap="none" strike="noStrik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308610" y="1611630"/>
            <a:ext cx="4149000" cy="1337400"/>
          </a:xfrm>
          <a:prstGeom prst="roundRect">
            <a:avLst>
              <a:gd fmla="val 615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514350" y="180365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514350" y="180365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891540" y="176250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514350" y="212598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In: Tally connector, risk model, cash forecast, rules engine, 3 agents, action queue, approval gate, draft outreach, mock TReDS, dossier generation.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Out: Zoho connector, live TReDS, automated legal filing, bank integrations.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4663440" y="1611630"/>
            <a:ext cx="4149000" cy="1337400"/>
          </a:xfrm>
          <a:prstGeom prst="roundRect">
            <a:avLst>
              <a:gd fmla="val 615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4869180" y="180365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4869180" y="180365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5246370" y="176250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RUNNING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4869180" y="212598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One FastAPI + PostgreSQL instance. The only real cost is the LLM call for agent reasoning. XGBoost runs cheaply on CPU — no GPU needed.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308610" y="3120390"/>
            <a:ext cx="4149000" cy="1337400"/>
          </a:xfrm>
          <a:prstGeom prst="roundRect">
            <a:avLst>
              <a:gd fmla="val 615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514350" y="331241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514350" y="331241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891540" y="327126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RISKS &amp; FALLBACK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514350" y="363474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Tally's API may be unreachable in dev — fallback is a canned-data connector, so the rest of the demo still runs. LLM cost or latency spikes — fallback is caching outputs for the fixed demo dataset.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4663440" y="3120390"/>
            <a:ext cx="4149000" cy="1337400"/>
          </a:xfrm>
          <a:prstGeom prst="roundRect">
            <a:avLst>
              <a:gd fmla="val 6154" name="adj"/>
            </a:avLst>
          </a:prstGeom>
          <a:solidFill>
            <a:srgbClr val="F3ECD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4869180" y="331241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4869180" y="331241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5246370" y="327126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AFTER THE HACKATHON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4869180" y="363474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Zoho connector. Hindi/Tamil outreach. Live TReDS submission. GSTIN/Account Aggregator data. More ERP connectors (SAP, Oracle, ERPNext).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2" name="Google Shape;312;p20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20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20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20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20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20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20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20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20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20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20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20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20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20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20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20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20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20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20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20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06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20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0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show how the figure was measured, an estimate is fine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2600"/>
              <a:buFont typeface="Cambria"/>
              <a:buNone/>
            </a:pPr>
            <a:r>
              <a:rPr b="1" lang="en" sz="26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Impact </a:t>
            </a:r>
            <a:r>
              <a:rPr b="1" lang="en" sz="26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Metrics </a:t>
            </a:r>
            <a:endParaRPr b="0" i="0" sz="2600" u="none" cap="none" strike="noStrik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308610" y="1611630"/>
            <a:ext cx="3154800" cy="3017400"/>
          </a:xfrm>
          <a:prstGeom prst="roundRect">
            <a:avLst>
              <a:gd fmla="val 2727" name="adj"/>
            </a:avLst>
          </a:prstGeom>
          <a:solidFill>
            <a:srgbClr val="F2E65C"/>
          </a:solidFill>
          <a:ln cap="flat" cmpd="sng" w="1905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308610" y="1851660"/>
            <a:ext cx="3154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4800"/>
              <a:buFont typeface="Cambria"/>
              <a:buNone/>
            </a:pPr>
            <a:r>
              <a:rPr b="1" i="0" lang="en" sz="48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14–21 DAYS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514350" y="2983230"/>
            <a:ext cx="27432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Faster cash collection — money owed arrives 2–3 weeks sooner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20"/>
          <p:cNvCxnSpPr/>
          <p:nvPr/>
        </p:nvCxnSpPr>
        <p:spPr>
          <a:xfrm>
            <a:off x="582930" y="3669030"/>
            <a:ext cx="26061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3" name="Google Shape;343;p20"/>
          <p:cNvSpPr/>
          <p:nvPr/>
        </p:nvSpPr>
        <p:spPr>
          <a:xfrm>
            <a:off x="514350" y="3771900"/>
            <a:ext cx="274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HOW IT WAS MEASURED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514350" y="397764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One real portfolio: 30 invoices, ₹42.6L outstanding, ₹6.2L cash gap in 14 days. Closed ~2–3 weeks earlier than manual triage catches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3669030" y="163220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3669030" y="163220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4046220" y="159105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 MEASURABLY IMPROVES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4046220" y="183108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Days Sales Outstanding drops 14–21 days. Same sales, faster cash.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3669030" y="235229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3669030" y="235229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4046220" y="231114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WHO ELSE COULD USE 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4046220" y="255117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Any Indian MSME on Tally or Zoho with recurring B2B invoices — manufacturers, distributors, service providers. New ERPs plug in without touching ML, rules, or agents.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3669030" y="307238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3669030" y="307238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4046220" y="303123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 COULD GO WRONG / BE MISUSED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4046220" y="327126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A user rubber-stamps every 'Approve' without reading it. Or the model under-serves a customer segment it has little data 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3669030" y="3792474"/>
            <a:ext cx="260700" cy="260700"/>
          </a:xfrm>
          <a:prstGeom prst="ellipse">
            <a:avLst/>
          </a:prstGeom>
          <a:solidFill>
            <a:srgbClr val="F2E65C"/>
          </a:solidFill>
          <a:ln cap="flat" cmpd="sng" w="15875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3669030" y="379247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b="1" i="0" lang="en" sz="11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4046220" y="375132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HOW YOU'D HANDLE THAT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4046220" y="399135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Every recommendation shows its evidence inline. The audit trail shows who approved what. Low-confidence predictions get flagged, not acted 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21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67" name="Google Shape;367;p21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68" name="Google Shape;368;p21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69" name="Google Shape;369;p21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21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21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21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21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21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21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1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21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1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1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21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21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21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21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21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21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1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07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21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21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b="0" i="1" lang="en" sz="800" u="none" cap="none" strike="noStrik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one source per line · uncredited work is disqualifying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References </a:t>
            </a:r>
            <a:r>
              <a:rPr b="1" lang="en" sz="300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&amp; Attribution </a:t>
            </a:r>
            <a:endParaRPr b="1" sz="3000">
              <a:solidFill>
                <a:srgbClr val="1C1B1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393" name="Google Shape;393;p21"/>
          <p:cNvGraphicFramePr/>
          <p:nvPr/>
        </p:nvGraphicFramePr>
        <p:xfrm>
          <a:off x="308610" y="16802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{CF70B0EF-2D5A-4986-BC53-A98E25380EB2}</a:tableStyleId>
              </a:tblPr>
              <a:tblGrid>
                <a:gridCol w="1028700"/>
                <a:gridCol w="2537450"/>
                <a:gridCol w="2194550"/>
                <a:gridCol w="1508750"/>
                <a:gridCol w="1234425"/>
              </a:tblGrid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(author, title, year)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GAVE YOU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BORROWED / YOURS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B18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C1B1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LICENCE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E65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Chen &amp; Guestrin, “XGBoost: A Scalable Tree Boosting System,” 2016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method for the payment-delay model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Borrowed (method)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Apache-2.0 (impl.)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Repository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langchain-ai/langgraph (GitHub)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 for the agent pipeline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Borrowed (framework)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Documentation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MSMED Act, 2006 &amp; RBI TReDS Scheme guidelines (Govt. of India / RBI)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45-day threshold + TReDS eligibility rules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Borrowed (regulation)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/ Government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Synthetic MSME demo portfolio — 30 invoices, ₹42.6L (project-authored)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and demo data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Yours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 (synthetic)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weights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 model trained in-house on the synthetic dataset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Payment-delay predictions (0–15 / 16–30 / 31–45 / &gt;45 days)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Yours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8271"/>
                        </a:buClr>
                        <a:buSzPts val="800"/>
                        <a:buFont typeface="Calibri"/>
                        <a:buNone/>
                      </a:pPr>
                      <a:r>
                        <a:rPr i="1" lang="en" sz="800" u="none" cap="none" strike="noStrike">
                          <a:solidFill>
                            <a:srgbClr val="8A827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C1B1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C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3E6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9" name="Google Shape;399;p22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22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22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cap="flat" cmpd="sng" w="9525">
            <a:solidFill>
              <a:srgbClr val="ECE2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22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b="1" i="1" lang="en" sz="1500" u="none" cap="none" strike="noStrik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fmla="val 50000" name="adj"/>
            </a:avLst>
          </a:prstGeom>
          <a:solidFill>
            <a:srgbClr val="FAF3E6"/>
          </a:solidFill>
          <a:ln cap="flat" cmpd="sng" w="12700">
            <a:solidFill>
              <a:srgbClr val="1C1B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" sz="800" u="none" cap="none" strike="noStrik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 / 0</a:t>
            </a:r>
            <a:r>
              <a:rPr b="1" lang="en" sz="80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b="1" lang="en" sz="3000">
                <a:solidFill>
                  <a:srgbClr val="1C1B18"/>
                </a:solidFill>
                <a:highlight>
                  <a:srgbClr val="FAF3E6"/>
                </a:highlight>
                <a:latin typeface="Cambria"/>
                <a:ea typeface="Cambria"/>
                <a:cs typeface="Cambria"/>
                <a:sym typeface="Cambria"/>
              </a:rPr>
              <a:t>Extra Slide</a:t>
            </a:r>
            <a:endParaRPr b="1" sz="3000">
              <a:solidFill>
                <a:srgbClr val="1C1B18"/>
              </a:solidFill>
              <a:highlight>
                <a:srgbClr val="FAF3E6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