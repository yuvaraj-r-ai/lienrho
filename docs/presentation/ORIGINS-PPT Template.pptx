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70B0EF-2D5A-4986-BC53-A98E25380EB2}">
  <a:tblStyle styleId="{CF70B0EF-2D5A-4986-BC53-A98E25380EB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36ebe4be_2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636ebe4be_2_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636ebe4be_2_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36ebe4be_2_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636ebe4be_2_4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636ebe4be_2_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36ebe4be_2_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636ebe4be_2_9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636ebe4be_2_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36ebe4be_2_1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636ebe4be_2_14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636ebe4be_2_1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636ebe4be_2_20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f636ebe4be_2_20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636ebe4be_2_20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636ebe4be_2_25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f636ebe4be_2_258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636ebe4be_2_25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636ebe4be_2_3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f636ebe4be_2_31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636ebe4be_2_31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636ebe4be_0_1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f636ebe4be_0_1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636ebe4be_0_1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5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5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5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5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5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5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5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5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5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5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5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01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08610" y="1062990"/>
            <a:ext cx="6515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6300"/>
              <a:buFont typeface="Cambria"/>
              <a:buNone/>
            </a:pPr>
            <a:r>
              <a:rPr b="1" i="0" lang="en" sz="63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</a:t>
            </a:r>
            <a:r>
              <a:rPr b="1" i="0" lang="en" sz="6300" u="none" cap="none" strike="noStrike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INS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29184" y="209169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mbria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 CSI-VITC hackathon  ·  everything traces back to an origin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172200" y="617220"/>
            <a:ext cx="2434500" cy="377100"/>
          </a:xfrm>
          <a:prstGeom prst="roundRect">
            <a:avLst>
              <a:gd fmla="val 50000" name="adj"/>
            </a:avLst>
          </a:prstGeom>
          <a:solidFill>
            <a:srgbClr val="F2E65C"/>
          </a:solidFill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172200" y="617220"/>
            <a:ext cx="2434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TRACK  ·  [ SELECTED TRACK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308610" y="2503170"/>
            <a:ext cx="85383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" name="Google Shape;86;p15"/>
          <p:cNvSpPr/>
          <p:nvPr/>
        </p:nvSpPr>
        <p:spPr>
          <a:xfrm>
            <a:off x="308610" y="26403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308610" y="2846070"/>
            <a:ext cx="500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[ Your Project Title Goes Here 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08610" y="33261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ONE-LINE PITCH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08610" y="3531870"/>
            <a:ext cx="500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200"/>
              <a:buFont typeface="Calibri"/>
              <a:buNone/>
            </a:pPr>
            <a:r>
              <a:rPr i="1" lang="en" sz="12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[Track Name]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726430" y="2571750"/>
            <a:ext cx="3120300" cy="2023200"/>
          </a:xfrm>
          <a:prstGeom prst="roundRect">
            <a:avLst>
              <a:gd fmla="val 4068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932170" y="2674620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932170" y="2866644"/>
            <a:ext cx="2743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[ Team Name 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932170" y="3257550"/>
            <a:ext cx="27432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Name ] — [ </a:t>
            </a:r>
            <a:r>
              <a:rPr lang="en" sz="10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Name ] — [ </a:t>
            </a:r>
            <a:r>
              <a:rPr lang="en" sz="10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Email </a:t>
            </a: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Name ] — </a:t>
            </a:r>
            <a:r>
              <a:rPr lang="en" sz="10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Email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Name ] — [ </a:t>
            </a:r>
            <a:r>
              <a:rPr lang="en" sz="10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Email </a:t>
            </a: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15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5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note: keep layout, colours &amp; logos as-is — fill placeholders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6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6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6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6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6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6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6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6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6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6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6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6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6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6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02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6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6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answer in 2–3 lines · readable outside your track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Problem </a:t>
            </a: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Definition </a:t>
            </a:r>
            <a:endParaRPr b="0" i="0" sz="3000" u="none" cap="none" strike="noStrik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42900" y="1611630"/>
            <a:ext cx="288000" cy="2880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342900" y="161163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788670" y="1563624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WHO &amp; HOW OFTEN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88670" y="1796796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Who feels this pain, and how often do they feel it?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42900" y="2345436"/>
            <a:ext cx="288000" cy="2880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342900" y="23454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88670" y="2297430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TODAY'S WORKAROUND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88670" y="2530602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How is this handled today, without your solution?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42900" y="3079242"/>
            <a:ext cx="288000" cy="2880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42900" y="307924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88670" y="3031236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WHY IT FALLS SHORT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88670" y="3264408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Why does that current approach fall short?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42900" y="3813048"/>
            <a:ext cx="288000" cy="2880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42900" y="381304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88670" y="3765042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88670" y="3998214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What evidence shows this problem is real? Data, quotes, sources.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17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7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7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7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7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17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17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17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7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17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7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7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7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17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7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7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17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03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7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7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name it plainly · connect straight back to slide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Proposed </a:t>
            </a: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Solution </a:t>
            </a:r>
            <a:endParaRPr b="0" i="0" sz="3000" u="none" cap="none" strike="noStrik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08610" y="1680210"/>
            <a:ext cx="548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[ PRODUCT / SYSTEM NAME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08610" y="2091690"/>
            <a:ext cx="850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Plain-language description: what it does, in one or two sentences.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308610" y="2708910"/>
            <a:ext cx="2674500" cy="1885800"/>
          </a:xfrm>
          <a:prstGeom prst="roundRect">
            <a:avLst>
              <a:gd fmla="val 436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14350" y="291465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51435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1435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A USER DOES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51435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The concrete steps a user takes with it.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154680" y="2708910"/>
            <a:ext cx="2674500" cy="1885800"/>
          </a:xfrm>
          <a:prstGeom prst="roundRect">
            <a:avLst>
              <a:gd fmla="val 436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3360420" y="291465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336042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36042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WHY IT BEATS THE WORKAROUND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36042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What's better than today's alternative, concretely.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000750" y="2708910"/>
            <a:ext cx="2674500" cy="1885800"/>
          </a:xfrm>
          <a:prstGeom prst="roundRect">
            <a:avLst>
              <a:gd fmla="val 436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6206490" y="291465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620649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20649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WHAT'S GENUINELY DIFFERENT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20649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Your actual point of difference — be specific.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18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18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18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8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8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18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18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18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18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18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18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18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18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18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18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8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18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18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18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8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04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8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8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walk the full flow · name real services &amp; models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System </a:t>
            </a: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Architecture </a:t>
            </a:r>
            <a:endParaRPr b="1" sz="3000">
              <a:solidFill>
                <a:srgbClr val="1C1B18"/>
              </a:solidFill>
              <a:highlight>
                <a:srgbClr val="F2E65C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49034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49034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8"/>
          <p:cNvCxnSpPr/>
          <p:nvPr/>
        </p:nvCxnSpPr>
        <p:spPr>
          <a:xfrm>
            <a:off x="1930527" y="1937385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18"/>
          <p:cNvSpPr/>
          <p:nvPr/>
        </p:nvSpPr>
        <p:spPr>
          <a:xfrm>
            <a:off x="217055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217055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Frontend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8"/>
          <p:cNvCxnSpPr/>
          <p:nvPr/>
        </p:nvCxnSpPr>
        <p:spPr>
          <a:xfrm>
            <a:off x="3610737" y="1937385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p18"/>
          <p:cNvSpPr/>
          <p:nvPr/>
        </p:nvSpPr>
        <p:spPr>
          <a:xfrm>
            <a:off x="385076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385076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API / Backend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8"/>
          <p:cNvCxnSpPr/>
          <p:nvPr/>
        </p:nvCxnSpPr>
        <p:spPr>
          <a:xfrm>
            <a:off x="5290947" y="1937385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18"/>
          <p:cNvSpPr/>
          <p:nvPr/>
        </p:nvSpPr>
        <p:spPr>
          <a:xfrm>
            <a:off x="553097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553097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Model / AWS Service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8"/>
          <p:cNvCxnSpPr/>
          <p:nvPr/>
        </p:nvCxnSpPr>
        <p:spPr>
          <a:xfrm>
            <a:off x="6971157" y="1937385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18"/>
          <p:cNvSpPr/>
          <p:nvPr/>
        </p:nvSpPr>
        <p:spPr>
          <a:xfrm>
            <a:off x="721118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721118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90347" y="231114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↑ replace with your real architecture diagram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308610" y="2983230"/>
            <a:ext cx="2674500" cy="1645800"/>
          </a:xfrm>
          <a:prstGeom prst="roundRect">
            <a:avLst>
              <a:gd fmla="val 5000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514350" y="318897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51435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1435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KEY TECHNICAL DECISION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1435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The decision, and why you made it.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3154680" y="2983230"/>
            <a:ext cx="2674500" cy="1645800"/>
          </a:xfrm>
          <a:prstGeom prst="roundRect">
            <a:avLst>
              <a:gd fmla="val 5000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3360420" y="318897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336042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336042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HARDEST PART TO 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336042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What was genuinely hard, and how you solved it.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6000750" y="2983230"/>
            <a:ext cx="2674500" cy="1645800"/>
          </a:xfrm>
          <a:prstGeom prst="roundRect">
            <a:avLst>
              <a:gd fmla="val 5000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6206490" y="318897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620649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620649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HOW YOU KNOW IT 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620649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Tests or evaluations you ran.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19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9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19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19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19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19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9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9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19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19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9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19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19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19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19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19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19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19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9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05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9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9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 working slice with a known limit beats an over-promised demo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Feasibility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&amp;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Scope</a:t>
            </a:r>
            <a:r>
              <a:rPr lang="en" sz="1100">
                <a:solidFill>
                  <a:schemeClr val="dk1"/>
                </a:solidFill>
                <a:highlight>
                  <a:srgbClr val="F2E65C"/>
                </a:highlight>
              </a:rPr>
              <a:t> </a:t>
            </a:r>
            <a:endParaRPr b="0" i="0" sz="2400" u="none" cap="none" strike="noStrik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308610" y="1611630"/>
            <a:ext cx="4149000" cy="1337400"/>
          </a:xfrm>
          <a:prstGeom prst="roundRect">
            <a:avLst>
              <a:gd fmla="val 615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514350" y="180365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514350" y="180365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891540" y="176250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514350" y="212598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In: [ what's in scope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Out: [ what's explicitly not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4663440" y="1611630"/>
            <a:ext cx="4149000" cy="1337400"/>
          </a:xfrm>
          <a:prstGeom prst="roundRect">
            <a:avLst>
              <a:gd fmla="val 615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4869180" y="180365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4869180" y="180365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5246370" y="176250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RUNNING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4869180" y="212598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What it costs to run — compute, APIs, storage.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308610" y="3120390"/>
            <a:ext cx="4149000" cy="1337400"/>
          </a:xfrm>
          <a:prstGeom prst="roundRect">
            <a:avLst>
              <a:gd fmla="val 615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514350" y="331241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514350" y="331241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891540" y="327126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RISKS &amp; FALLBACK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514350" y="363474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What could break, and your fallback plan.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4663440" y="3120390"/>
            <a:ext cx="4149000" cy="1337400"/>
          </a:xfrm>
          <a:prstGeom prst="roundRect">
            <a:avLst>
              <a:gd fmla="val 615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4869180" y="331241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4869180" y="331241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5246370" y="327126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AFTER THE HACKATHON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4869180" y="363474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Where this goes next — roadmap.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2" name="Google Shape;312;p20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20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20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20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20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20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20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20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20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20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20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20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20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20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20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0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0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0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20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20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06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20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0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show how the figure was measured, an estimate is fine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2600"/>
              <a:buFont typeface="Cambria"/>
              <a:buNone/>
            </a:pPr>
            <a:r>
              <a:rPr b="1" lang="en" sz="26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Impact </a:t>
            </a:r>
            <a:r>
              <a:rPr b="1" lang="en" sz="26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Metrics </a:t>
            </a:r>
            <a:endParaRPr b="0" i="0" sz="2600" u="none" cap="none" strike="noStrik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308610" y="1611630"/>
            <a:ext cx="3154800" cy="3017400"/>
          </a:xfrm>
          <a:prstGeom prst="roundRect">
            <a:avLst>
              <a:gd fmla="val 2727" name="adj"/>
            </a:avLst>
          </a:prstGeom>
          <a:solidFill>
            <a:srgbClr val="F2E65C"/>
          </a:solidFill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308610" y="1851660"/>
            <a:ext cx="3154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4800"/>
              <a:buFont typeface="Cambria"/>
              <a:buNone/>
            </a:pPr>
            <a:r>
              <a:rPr b="1" i="0" lang="en" sz="48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[ 00% ]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514350" y="2983230"/>
            <a:ext cx="2743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one line: what this figure means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20"/>
          <p:cNvCxnSpPr/>
          <p:nvPr/>
        </p:nvCxnSpPr>
        <p:spPr>
          <a:xfrm>
            <a:off x="582930" y="3669030"/>
            <a:ext cx="26061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3" name="Google Shape;343;p20"/>
          <p:cNvSpPr/>
          <p:nvPr/>
        </p:nvSpPr>
        <p:spPr>
          <a:xfrm>
            <a:off x="514350" y="3771900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HOW IT WAS MEASURED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514350" y="397764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show your working — estimate is acceptable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3669030" y="163220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3669030" y="163220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4046220" y="159105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MEASURABLY IMPROVES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4046220" y="183108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The concrete before/after change.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3669030" y="235229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3669030" y="235229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4046220" y="231114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WHO ELSE COULD USE 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4046220" y="255117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Other beneficiaries beyond your primary user.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3669030" y="307238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3669030" y="307238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046220" y="303123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COULD GO WRONG / BE MISUSED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046220" y="327126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Realistic misuse or failure case.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3669030" y="379247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3669030" y="379247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4046220" y="375132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HOW YOU'D HANDLE THAT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046220" y="399135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[ Your mitigation for the above.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21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7" name="Google Shape;367;p21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8" name="Google Shape;368;p21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9" name="Google Shape;369;p21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21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21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21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21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21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21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1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1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1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1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21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21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21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21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21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21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07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21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21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one source per line · uncredited work is disqualifying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References </a:t>
            </a: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&amp; Attribution </a:t>
            </a:r>
            <a:endParaRPr b="1" sz="3000">
              <a:solidFill>
                <a:srgbClr val="1C1B1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393" name="Google Shape;393;p21"/>
          <p:cNvGraphicFramePr/>
          <p:nvPr/>
        </p:nvGraphicFramePr>
        <p:xfrm>
          <a:off x="308610" y="1680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{CF70B0EF-2D5A-4986-BC53-A98E25380EB2}</a:tableStyleId>
              </a:tblPr>
              <a:tblGrid>
                <a:gridCol w="1028700"/>
                <a:gridCol w="2537450"/>
                <a:gridCol w="2194550"/>
                <a:gridCol w="1508750"/>
                <a:gridCol w="1234425"/>
              </a:tblGrid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(author, title, year)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GAVE YOU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BORROWED / YOURS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LICENCE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Author, “Title,” Year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what it gave you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borrowed / yours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licence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Repository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Repo name / org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what it gave you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borrowed / yours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licence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Docs source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what it gave you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borrowed / yours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licence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Dataset name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what it gave you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borrowed / yours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licence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weights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Model name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what it gave you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borrowed / yours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licence ]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9" name="Google Shape;399;p22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22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22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22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highlight>
                  <a:srgbClr val="FAF3E6"/>
                </a:highlight>
                <a:latin typeface="Cambria"/>
                <a:ea typeface="Cambria"/>
                <a:cs typeface="Cambria"/>
                <a:sym typeface="Cambria"/>
              </a:rPr>
              <a:t>Extra Slide</a:t>
            </a:r>
            <a:endParaRPr b="1" sz="3000">
              <a:solidFill>
                <a:srgbClr val="1C1B18"/>
              </a:solidFill>
              <a:highlight>
                <a:srgbClr val="FAF3E6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